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itter Medium" panose="020B0604020202020204" charset="0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5DC"/>
    <a:srgbClr val="FCE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7E1F9D-F558-4189-8386-ABF96BDE7C83}" v="2" dt="2026-04-28T05:17:59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 S" userId="00eec1ece2c519b4" providerId="LiveId" clId="{762DC4BF-6155-475D-B268-BFBBB45B8833}"/>
    <pc:docChg chg="undo custSel modSld">
      <pc:chgData name="Abhin S" userId="00eec1ece2c519b4" providerId="LiveId" clId="{762DC4BF-6155-475D-B268-BFBBB45B8833}" dt="2026-04-28T05:20:12.829" v="22" actId="11529"/>
      <pc:docMkLst>
        <pc:docMk/>
      </pc:docMkLst>
      <pc:sldChg chg="addSp delSp modSp mod">
        <pc:chgData name="Abhin S" userId="00eec1ece2c519b4" providerId="LiveId" clId="{762DC4BF-6155-475D-B268-BFBBB45B8833}" dt="2026-04-28T05:20:12.829" v="22" actId="11529"/>
        <pc:sldMkLst>
          <pc:docMk/>
          <pc:sldMk cId="0" sldId="256"/>
        </pc:sldMkLst>
        <pc:spChg chg="add del mod">
          <ac:chgData name="Abhin S" userId="00eec1ece2c519b4" providerId="LiveId" clId="{762DC4BF-6155-475D-B268-BFBBB45B8833}" dt="2026-04-28T05:17:59.724" v="6" actId="767"/>
          <ac:spMkLst>
            <pc:docMk/>
            <pc:sldMk cId="0" sldId="256"/>
            <ac:spMk id="9" creationId="{76616F06-ACD1-9770-9891-FF496225E93D}"/>
          </ac:spMkLst>
        </pc:spChg>
        <pc:spChg chg="add del mod">
          <ac:chgData name="Abhin S" userId="00eec1ece2c519b4" providerId="LiveId" clId="{762DC4BF-6155-475D-B268-BFBBB45B8833}" dt="2026-04-28T05:20:12.829" v="22" actId="11529"/>
          <ac:spMkLst>
            <pc:docMk/>
            <pc:sldMk cId="0" sldId="256"/>
            <ac:spMk id="11" creationId="{0393783C-75AB-AAB0-DB83-030D0E9198E2}"/>
          </ac:spMkLst>
        </pc:spChg>
        <pc:inkChg chg="add del">
          <ac:chgData name="Abhin S" userId="00eec1ece2c519b4" providerId="LiveId" clId="{762DC4BF-6155-475D-B268-BFBBB45B8833}" dt="2026-04-28T05:17:58.147" v="4" actId="9405"/>
          <ac:inkMkLst>
            <pc:docMk/>
            <pc:sldMk cId="0" sldId="256"/>
            <ac:inkMk id="10" creationId="{BBD36E86-0757-BBB8-4532-FDEE0AF60321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25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8131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AI-Based Career Counselor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41912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Machine Learning for Smart Career Prediction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4967526"/>
            <a:ext cx="850106" cy="373142"/>
          </a:xfrm>
          <a:prstGeom prst="roundRect">
            <a:avLst>
              <a:gd name="adj" fmla="val 17872"/>
            </a:avLst>
          </a:prstGeom>
          <a:solidFill>
            <a:srgbClr val="FCE2CF"/>
          </a:solidFill>
          <a:ln/>
        </p:spPr>
      </p:sp>
      <p:sp>
        <p:nvSpPr>
          <p:cNvPr id="6" name="Text 3"/>
          <p:cNvSpPr/>
          <p:nvPr/>
        </p:nvSpPr>
        <p:spPr>
          <a:xfrm>
            <a:off x="6399252" y="5027057"/>
            <a:ext cx="61198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ABHIN 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29475" y="4959906"/>
            <a:ext cx="2335292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D26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56158" y="5027057"/>
            <a:ext cx="20819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PROJECT PRESENTATION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042" y="578882"/>
            <a:ext cx="7630716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Many Students Are Truly Sure About Their Career?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43042" y="2031563"/>
            <a:ext cx="7630716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students make one of the most important decisions of their lives without the right tools or guidance. Career choices are often driven by the wrong factors — not by what a student is truly suited for.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243042" y="3120866"/>
            <a:ext cx="3725228" cy="1683544"/>
          </a:xfrm>
          <a:prstGeom prst="roundRect">
            <a:avLst>
              <a:gd name="adj" fmla="val 471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39733" y="3317558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📊</a:t>
            </a: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Marks Only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439733" y="3721179"/>
            <a:ext cx="3331845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Careers chosen solely based on academic scores, ignoring deeper abilities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148530" y="3120866"/>
            <a:ext cx="3725228" cy="1683544"/>
          </a:xfrm>
          <a:prstGeom prst="roundRect">
            <a:avLst>
              <a:gd name="adj" fmla="val 471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45222" y="3317558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👨‍👩‍👦</a:t>
            </a: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Parents' Pressure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345222" y="3721179"/>
            <a:ext cx="3331845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Family expectations override personal strengths and genuine interests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43042" y="4984671"/>
            <a:ext cx="7630716" cy="1092518"/>
          </a:xfrm>
          <a:prstGeom prst="roundRect">
            <a:avLst>
              <a:gd name="adj" fmla="val 727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39733" y="5181362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👥</a:t>
            </a: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Peer Influence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439733" y="5584984"/>
            <a:ext cx="7237333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follow trends and friends rather than their own potential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43042" y="6279952"/>
            <a:ext cx="7630716" cy="1370767"/>
          </a:xfrm>
          <a:prstGeom prst="roundRect">
            <a:avLst>
              <a:gd name="adj" fmla="val 5796"/>
            </a:avLst>
          </a:prstGeom>
          <a:solidFill>
            <a:srgbClr val="FFB3B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113" y="6571774"/>
            <a:ext cx="236458" cy="1890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7643" y="6507480"/>
            <a:ext cx="6827044" cy="88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Result: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Wrong career choices lead to long-term dissatisfaction, poor performance, and lost potential — a problem that affects millions of students every year.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711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9402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career counseling is largely one-size-fits-all. It fails to account for the unique combination of skills, interests, and behavioral traits that define each student. The current system is broken in three key ways: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52349"/>
            <a:ext cx="4215289" cy="2459355"/>
          </a:xfrm>
          <a:prstGeom prst="roundRect">
            <a:avLst>
              <a:gd name="adj" fmla="val 4462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3552349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37735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 Personalization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202787"/>
            <a:ext cx="37042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Generic advice is given to all students regardless of individual strengths, weaknesses, or personality traits. Every student deserves a tailored recommendation.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552349"/>
            <a:ext cx="4215408" cy="2459355"/>
          </a:xfrm>
          <a:prstGeom prst="roundRect">
            <a:avLst>
              <a:gd name="adj" fmla="val 4462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552349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D2600F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3773567"/>
            <a:ext cx="2541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Marks-Only Decisions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4202787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scores alone do not predict career success. Critical factors like problem-solving ability, creativity, and focus are completely overlooked.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552349"/>
            <a:ext cx="4215289" cy="2459355"/>
          </a:xfrm>
          <a:prstGeom prst="roundRect">
            <a:avLst>
              <a:gd name="adj" fmla="val 4462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3552349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D2600F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3773567"/>
            <a:ext cx="28942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Skills &amp; Behavior Ignored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4202787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Interests, behavioral tendencies, and co-curricular abilities — all strong predictors of career fit — are never factored into guidance.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623494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 an intelligent, data-driven system that recommends suitable career paths by analyzing the full profile of each student.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890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Proposed Solution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596634"/>
            <a:ext cx="6565106" cy="3953947"/>
          </a:xfrm>
          <a:prstGeom prst="roundRect">
            <a:avLst>
              <a:gd name="adj" fmla="val 3614"/>
            </a:avLst>
          </a:prstGeom>
          <a:solidFill>
            <a:srgbClr val="D2600F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2794992"/>
            <a:ext cx="32308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ML-Based Career Counselor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303508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intelligent system powered by Machine Learning that goes beyond grades to understand a student holistically — and recommends the careers they are most likely to thrive in.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2794992"/>
            <a:ext cx="30520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the System Analyzes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303508"/>
            <a:ext cx="6279356" cy="172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Performance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scores across core subjects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 &amp; Interests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technical aptitude, focus, and extracurricular strengths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Traits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attendance patterns, discipline, and consistency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52283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Output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573690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produces a ranked list of </a:t>
            </a: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best-suited career options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tailored specifically to each student's unique data profile.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480536"/>
            <a:ext cx="4031456" cy="50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Overview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956905" y="1246346"/>
            <a:ext cx="12716470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is trained on a curated dataset of approximately </a:t>
            </a:r>
            <a:r>
              <a:rPr lang="en-US" sz="12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500 student records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capturing a rich set of academic and behavioral features to ensure well-rounded career predictions.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56905" y="1992154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Input Features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956905" y="2391489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5736" y="2560320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8729" y="2693313"/>
            <a:ext cx="217646" cy="2176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5736" y="3175040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Math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103132" y="2391489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1963" y="2560320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4955" y="2693313"/>
            <a:ext cx="217646" cy="2176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1963" y="3175040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Physics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56905" y="3726775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25736" y="3895606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8729" y="4028599"/>
            <a:ext cx="217646" cy="2176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25736" y="4510326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Chemistry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4103132" y="3726775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271963" y="3895606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55" y="4028599"/>
            <a:ext cx="217646" cy="21764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71963" y="4510326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Biology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956905" y="5062061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125736" y="5230892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8729" y="5363885"/>
            <a:ext cx="217646" cy="21764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25736" y="5845612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English</a:t>
            </a:r>
            <a:endParaRPr lang="en-US" sz="1550" dirty="0"/>
          </a:p>
        </p:txBody>
      </p:sp>
      <p:sp>
        <p:nvSpPr>
          <p:cNvPr id="25" name="Shape 18"/>
          <p:cNvSpPr/>
          <p:nvPr/>
        </p:nvSpPr>
        <p:spPr>
          <a:xfrm>
            <a:off x="4103132" y="5062061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271963" y="5230892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4955" y="5363885"/>
            <a:ext cx="217646" cy="21764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271963" y="5845612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Attendance</a:t>
            </a:r>
            <a:endParaRPr lang="en-US" sz="1550" dirty="0"/>
          </a:p>
        </p:txBody>
      </p:sp>
      <p:sp>
        <p:nvSpPr>
          <p:cNvPr id="29" name="Shape 21"/>
          <p:cNvSpPr/>
          <p:nvPr/>
        </p:nvSpPr>
        <p:spPr>
          <a:xfrm>
            <a:off x="956905" y="6397347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125736" y="6566178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8729" y="6699171"/>
            <a:ext cx="217646" cy="21764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25736" y="7180898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Focus Duration</a:t>
            </a:r>
            <a:endParaRPr lang="en-US" sz="1550" dirty="0"/>
          </a:p>
        </p:txBody>
      </p:sp>
      <p:sp>
        <p:nvSpPr>
          <p:cNvPr id="33" name="Shape 24"/>
          <p:cNvSpPr/>
          <p:nvPr/>
        </p:nvSpPr>
        <p:spPr>
          <a:xfrm>
            <a:off x="4103132" y="6397347"/>
            <a:ext cx="3015258" cy="1204317"/>
          </a:xfrm>
          <a:prstGeom prst="roundRect">
            <a:avLst>
              <a:gd name="adj" fmla="val 56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271963" y="6566178"/>
            <a:ext cx="483751" cy="483751"/>
          </a:xfrm>
          <a:prstGeom prst="roundRect">
            <a:avLst>
              <a:gd name="adj" fmla="val 18900396"/>
            </a:avLst>
          </a:prstGeom>
          <a:solidFill>
            <a:srgbClr val="D2600F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04955" y="6699171"/>
            <a:ext cx="217646" cy="21764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271963" y="7180898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Sports Skill</a:t>
            </a:r>
            <a:endParaRPr lang="en-US" sz="1550" dirty="0"/>
          </a:p>
        </p:txBody>
      </p:sp>
      <p:sp>
        <p:nvSpPr>
          <p:cNvPr id="37" name="Text 27"/>
          <p:cNvSpPr/>
          <p:nvPr/>
        </p:nvSpPr>
        <p:spPr>
          <a:xfrm>
            <a:off x="7519392" y="1992154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Target Variable</a:t>
            </a:r>
            <a:endParaRPr lang="en-US" sz="1550" dirty="0"/>
          </a:p>
        </p:txBody>
      </p:sp>
      <p:sp>
        <p:nvSpPr>
          <p:cNvPr id="38" name="Shape 28"/>
          <p:cNvSpPr/>
          <p:nvPr/>
        </p:nvSpPr>
        <p:spPr>
          <a:xfrm>
            <a:off x="7519392" y="2391489"/>
            <a:ext cx="6161484" cy="837128"/>
          </a:xfrm>
          <a:prstGeom prst="roundRect">
            <a:avLst>
              <a:gd name="adj" fmla="val 8091"/>
            </a:avLst>
          </a:prstGeom>
          <a:solidFill>
            <a:srgbClr val="B6FCB8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0603" y="2627114"/>
            <a:ext cx="201573" cy="161211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043386" y="2562701"/>
            <a:ext cx="5476280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Career Path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label the model learns to predict based on the combination of all input features above.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7519392" y="3376017"/>
            <a:ext cx="6161484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multi-feature approach ensures the model captures a student's complete academic and behavioral profile, not just subject scores.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500"/>
            <a:ext cx="796992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Methodology: End-to-End Pipeline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7641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follows a structured, five-stage machine learning pipeline — from raw data to actionable career predictions. Each stage is designed to maximize model accuracy and reliability.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34734"/>
            <a:ext cx="13042821" cy="34512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9781" y="3801674"/>
            <a:ext cx="1971578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99781" y="4608113"/>
            <a:ext cx="1971578" cy="5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Gather 500 student records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059064" y="3265094"/>
            <a:ext cx="1971578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059064" y="4071533"/>
            <a:ext cx="1971578" cy="84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and normalize datasets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318348" y="3801674"/>
            <a:ext cx="1971578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318348" y="4608113"/>
            <a:ext cx="1971578" cy="5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key predictive features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577631" y="3547505"/>
            <a:ext cx="1971578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77631" y="4353944"/>
            <a:ext cx="1971578" cy="5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Random Forest model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849466" y="3801674"/>
            <a:ext cx="1971577" cy="35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Prediction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849466" y="4255100"/>
            <a:ext cx="1971577" cy="56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career recommendations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6309241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B6D6F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6612136"/>
            <a:ext cx="248007" cy="19835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38513" y="6557129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Used: Random Forest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An ensemble learning method that builds multiple decision trees and combines their outputs for a robust, high-accuracy final prediction.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8102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Why Random Forest?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149875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is the ideal algorithm for this problem because it handles multi-feature datasets gracefully and delivers consistently high predictive accuracy.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357080"/>
            <a:ext cx="496133" cy="4961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7930" y="23570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Accuracy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537930" y="2786301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voting across hundreds of trees produces predictions far more reliable than any single decision tree model.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818215"/>
            <a:ext cx="496133" cy="4961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7930" y="38182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Reduces Overfitting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1537930" y="4247436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averaging results from many uncorrelated trees, the model generalizes well to new, unseen student data.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79350"/>
            <a:ext cx="496133" cy="4961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37930" y="5279350"/>
            <a:ext cx="30408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Handles Multiple Features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1537930" y="5708571"/>
            <a:ext cx="68122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seamlessly with diverse input types — scores, attendance rates, behavioral metrics — without requiring feature scaling.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091446" y="6790134"/>
            <a:ext cx="72587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Concept:</a:t>
            </a: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Multiple decision trees → Each votes on a career → Majority vote wins → Final prediction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793790" y="6566892"/>
            <a:ext cx="22860" cy="1081564"/>
          </a:xfrm>
          <a:prstGeom prst="rect">
            <a:avLst/>
          </a:prstGeom>
          <a:solidFill>
            <a:srgbClr val="D2600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26996"/>
            <a:ext cx="4951690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the Model Works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81407" y="1722001"/>
            <a:ext cx="130675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trained model learns statistical patterns from student data and applies them to predict the most suitable career for any new input profile.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1407" y="2440781"/>
            <a:ext cx="334910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Training &amp; Prediction Process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81407" y="2962275"/>
            <a:ext cx="439579" cy="439579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690" y="2998946"/>
            <a:ext cx="293013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413272" y="3029426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Split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3272" y="3526869"/>
            <a:ext cx="566368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divided into ~80% training and ~20% testing to evaluate real-world generalization.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1407" y="4531757"/>
            <a:ext cx="439579" cy="439579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690" y="4568428"/>
            <a:ext cx="293013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413272" y="4598908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Pattern Learning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13272" y="5096351"/>
            <a:ext cx="566368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Random Forest model learns which feature combinations map to which career outcomes during training.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1407" y="6101239"/>
            <a:ext cx="439579" cy="439579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690" y="6137910"/>
            <a:ext cx="293013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413272" y="6168390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Career Prediction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13272" y="6665833"/>
            <a:ext cx="566368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Given a new student's data, the model outputs the best-fit career path based on learned patterns.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20451" y="2248495"/>
            <a:ext cx="6576774" cy="5253990"/>
          </a:xfrm>
          <a:prstGeom prst="roundRect">
            <a:avLst>
              <a:gd name="adj" fmla="val 2677"/>
            </a:avLst>
          </a:prstGeom>
          <a:solidFill>
            <a:srgbClr val="D2600F"/>
          </a:solidFill>
          <a:ln/>
        </p:spPr>
      </p:sp>
      <p:sp>
        <p:nvSpPr>
          <p:cNvPr id="18" name="Text 16"/>
          <p:cNvSpPr/>
          <p:nvPr/>
        </p:nvSpPr>
        <p:spPr>
          <a:xfrm>
            <a:off x="7615714" y="2440781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Prediction Examples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615714" y="2938224"/>
            <a:ext cx="61862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captures meaningful academic signals and maps them to logical career outcomes: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15714" y="3731538"/>
            <a:ext cx="6186249" cy="1442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Biology scores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Medical / Life Sciences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Math scores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Engineering / Data Science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English + Focus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Law / Journalism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Sports Skill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Sports Management / Physical Education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595074"/>
            <a:ext cx="4884301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Experiment Setup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81407" y="1590080"/>
            <a:ext cx="1306758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entire system is implemented in Python, leveraging the standard scientific computing and machine learning ecosystem. Key hyperparameters are tuned for optimal performance on the student dataset.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81407" y="2619018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Libraries Used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81407" y="3140512"/>
            <a:ext cx="3051572" cy="1554004"/>
          </a:xfrm>
          <a:prstGeom prst="roundRect">
            <a:avLst>
              <a:gd name="adj" fmla="val 5280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530" y="335863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NumPy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99530" y="3856077"/>
            <a:ext cx="261532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computation and array operations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5265" y="3140512"/>
            <a:ext cx="3051691" cy="1554004"/>
          </a:xfrm>
          <a:prstGeom prst="roundRect">
            <a:avLst>
              <a:gd name="adj" fmla="val 5280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43388" y="335863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Pandas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43388" y="3856077"/>
            <a:ext cx="261544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loading, cleaning, and manipulation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407" y="4886801"/>
            <a:ext cx="3051572" cy="1554004"/>
          </a:xfrm>
          <a:prstGeom prst="roundRect">
            <a:avLst>
              <a:gd name="adj" fmla="val 5280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530" y="510492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Matplotlib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99530" y="5602367"/>
            <a:ext cx="261532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visualization and result plotting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5265" y="4886801"/>
            <a:ext cx="3051691" cy="1554004"/>
          </a:xfrm>
          <a:prstGeom prst="roundRect">
            <a:avLst>
              <a:gd name="adj" fmla="val 5280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3388" y="510492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Scikit-learn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243388" y="5602367"/>
            <a:ext cx="261544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Forest model training and 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61064" y="2619018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 Parameters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561064" y="3140512"/>
            <a:ext cx="3051572" cy="1523524"/>
          </a:xfrm>
          <a:prstGeom prst="roundRect">
            <a:avLst>
              <a:gd name="adj" fmla="val 538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63947" y="334339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n_estimators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63947" y="3840837"/>
            <a:ext cx="264580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</a:t>
            </a: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decision trees in the forest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804922" y="3140512"/>
            <a:ext cx="3051691" cy="1523524"/>
          </a:xfrm>
          <a:prstGeom prst="roundRect">
            <a:avLst>
              <a:gd name="adj" fmla="val 5386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07804" y="334339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Test Size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1007804" y="3840837"/>
            <a:ext cx="264592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 20%</a:t>
            </a: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data held out for evaluation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561064" y="4856321"/>
            <a:ext cx="6295549" cy="1213366"/>
          </a:xfrm>
          <a:prstGeom prst="roundRect">
            <a:avLst>
              <a:gd name="adj" fmla="val 676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63947" y="5059204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Criterion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763947" y="5556647"/>
            <a:ext cx="588978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Gini Impurity</a:t>
            </a: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split quality measurement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561064" y="6286024"/>
            <a:ext cx="6295549" cy="1132046"/>
          </a:xfrm>
          <a:prstGeom prst="roundRect">
            <a:avLst>
              <a:gd name="adj" fmla="val 7249"/>
            </a:avLst>
          </a:prstGeom>
          <a:solidFill>
            <a:srgbClr val="FAD3B8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327" y="6580227"/>
            <a:ext cx="244197" cy="19526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195786" y="6527125"/>
            <a:ext cx="546556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Language: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Python 3.x — chosen for its rich ML ecosystem and ease of rapid prototyping.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494705"/>
            <a:ext cx="5310783" cy="52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Summary &amp; Key Takeaways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9846" y="1229916"/>
            <a:ext cx="7804309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AI-Based Career Counselor bridges a critical gap in student guidance by replacing guesswork with data-driven intelligence.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9846" y="1882973"/>
            <a:ext cx="334923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9846" y="2144673"/>
            <a:ext cx="7804309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7" name="Text 4"/>
          <p:cNvSpPr/>
          <p:nvPr/>
        </p:nvSpPr>
        <p:spPr>
          <a:xfrm>
            <a:off x="669846" y="2274094"/>
            <a:ext cx="2552819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 Problem, Real Impact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9846" y="2620447"/>
            <a:ext cx="7804309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Millions of students make career decisions without proper guidance — this system provides personalized, evidence-based recommendations.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9846" y="3381256"/>
            <a:ext cx="334923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9846" y="3642955"/>
            <a:ext cx="7804309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1" name="Text 8"/>
          <p:cNvSpPr/>
          <p:nvPr/>
        </p:nvSpPr>
        <p:spPr>
          <a:xfrm>
            <a:off x="669846" y="3772376"/>
            <a:ext cx="2475190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Holistic Student Profiling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9846" y="4118729"/>
            <a:ext cx="7804309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Goes beyond marks to include skills, behavior, focus, and attendance — capturing the full picture of a student's potential.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9846" y="4879538"/>
            <a:ext cx="334923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9846" y="5141238"/>
            <a:ext cx="7804309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5" name="Text 12"/>
          <p:cNvSpPr/>
          <p:nvPr/>
        </p:nvSpPr>
        <p:spPr>
          <a:xfrm>
            <a:off x="669846" y="5270659"/>
            <a:ext cx="2753797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Random Forest for Accuracy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9846" y="5617012"/>
            <a:ext cx="7804309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learning with 100 trees ensures robust, generalizable career predictions with minimal overfitting.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9846" y="6377821"/>
            <a:ext cx="334923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9846" y="6639520"/>
            <a:ext cx="7804309" cy="2286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9" name="Text 16"/>
          <p:cNvSpPr/>
          <p:nvPr/>
        </p:nvSpPr>
        <p:spPr>
          <a:xfrm>
            <a:off x="669846" y="6768941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Scalable &amp; Extensible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9846" y="7115294"/>
            <a:ext cx="7804309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pipeline can be extended with more features, larger datasets, or a user-facing web interface for real-world deployment.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1021</Words>
  <Application>Microsoft Office PowerPoint</Application>
  <PresentationFormat>Custom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Bitter Light</vt:lpstr>
      <vt:lpstr>Arial</vt:lpstr>
      <vt:lpstr>Bitter Medium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Abhin S</cp:lastModifiedBy>
  <cp:revision>1</cp:revision>
  <dcterms:created xsi:type="dcterms:W3CDTF">2026-04-28T05:14:41Z</dcterms:created>
  <dcterms:modified xsi:type="dcterms:W3CDTF">2026-04-28T05:20:20Z</dcterms:modified>
</cp:coreProperties>
</file>